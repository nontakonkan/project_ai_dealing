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1F1F"/>
                </a:solidFill>
                <a:latin typeface="Tahoma"/>
              </a:defRPr>
            </a:pPr>
            <a:r>
              <a:rPr sz="1100" b="0" i="0" u="none" strike="noStrike">
                <a:solidFill>
                  <a:srgbClr val="1F1F1F"/>
                </a:solidFill>
                <a:latin typeface="Tahoma"/>
              </a:rPr>
              <a:t>Retrieval Hit@5 (34 คำถาม)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Hit@5</c:v>
                </c:pt>
              </c:strCache>
            </c:strRef>
          </c:tx>
          <c:spPr>
            <a:solidFill>
              <a:srgbClr val="6FD16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Tahom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FD1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7B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FD16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FD16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7BA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Dense</c:v>
                  </c:pt>
                  <c:pt idx="1">
                    <c:v>Graph</c:v>
                  </c:pt>
                  <c:pt idx="2">
                    <c:v>Hybrid RRF</c:v>
                  </c:pt>
                  <c:pt idx="3">
                    <c:v>Routed</c:v>
                  </c:pt>
                  <c:pt idx="4">
                    <c:v>Routed+Gate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0.735</c:v>
                </c:pt>
                <c:pt idx="1">
                  <c:v>0.294</c:v>
                </c:pt>
                <c:pt idx="2">
                  <c:v>0.824</c:v>
                </c:pt>
                <c:pt idx="3">
                  <c:v>0.853</c:v>
                </c:pt>
                <c:pt idx="4">
                  <c:v>0.794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Tahom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F6B66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FD1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548640" y="-365760"/>
            <a:ext cx="5394960" cy="4023360"/>
          </a:xfrm>
          <a:prstGeom prst="roundRect">
            <a:avLst>
              <a:gd name="adj" fmla="val 7955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480000">
            <a:off x="-457200" y="4206240"/>
            <a:ext cx="1463040" cy="1463040"/>
          </a:xfrm>
          <a:prstGeom prst="roundRect">
            <a:avLst>
              <a:gd name="adj" fmla="val 12500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8580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PSU</a:t>
            </a:r>
            <a:endParaRPr lang="en-US" sz="5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DEALING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OA หาคู่ + ที่ปรึกษาความรัก ด้วย Hybrid RAG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Dense · Graph · Hybrid · Local + API LLM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0" y="640080"/>
            <a:ext cx="3749040" cy="30175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57800" y="868680"/>
            <a:ext cx="2194560" cy="25603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CFCB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25780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9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วางรูปที่นี่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26680" y="914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83880" y="868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82128" y="1417320"/>
            <a:ext cx="228600" cy="228600"/>
          </a:xfrm>
          <a:prstGeom prst="roundRect">
            <a:avLst>
              <a:gd name="adj" fmla="val 32000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1312" y="1417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43800" y="26974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Final Project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for Social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01168"/>
            <a:ext cx="8412480" cy="4736592"/>
          </a:xfrm>
          <a:prstGeom prst="roundRect">
            <a:avLst>
              <a:gd name="adj" fmla="val 2896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9952" y="274320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9952" y="420624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 rot="16200000">
            <a:off x="8503920" y="3931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PAGE 02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4747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น้องดีล: ทำอะไรได้บ้าง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8412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OA 1 ตัว = ผู้ช่วยหาคู่ + ที่ปรึกษาความรัก ใช้ผ่าน Rich Menu 4 ปุ่ม หรือพิมพ์คุยได้เลย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292608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9CFCB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0292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9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วางรูป Rich Menu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11880" y="1325880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1417320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0" y="1325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หาคู่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325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จัดอันดับด้วย Hybrid → การ์ด + เหตุผลที่เข้ากัน → ทำความรู้จัก / ขอผ่าน / เลิกคุย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11880" y="1874520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1965960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ถามบอต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1874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ตอบจากคลังความรู้ 37 แหล่งพร้อมอ้างอิง · ถามต่อเนื่องได้ · ไม่มีข้อมูลก็บอกตรงๆ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11880" y="2423160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21608" y="2514600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โปรไฟล์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2423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ดูสิ่งที่บอทจำ: งานอดิเรก · สเปค · คณะ · ค่านิยม (เปลี่ยนใจแล้วแก้ให้เอง)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11880" y="2971800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21608" y="3063240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0" y="2971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ล้างข้อมูล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29718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ลบโปรไฟล์ ความจำ ประวัติแชท ทั้งหมด — ต้องกดยืนยันก่อนทุกครั้ง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11880" y="3520440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21608" y="3611880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14800" y="3520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คุยเล่น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35204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เล่าเรื่องตัวเองได้ตามปกติ บอทเรียนรู้โปรไฟล์จากแชทโดยอัตโนมัติ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เริ่มใช้งานครั้งแรก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48840" y="4087368"/>
            <a:ext cx="7863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48840" y="408736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ทักบอท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944368" y="4251960"/>
            <a:ext cx="100584" cy="0"/>
          </a:xfrm>
          <a:prstGeom prst="line">
            <a:avLst/>
          </a:prstGeom>
          <a:noFill/>
          <a:ln w="15875">
            <a:solidFill>
              <a:srgbClr val="6FD16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054096" y="4087368"/>
            <a:ext cx="7863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054096" y="408736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ยินยอมใช้ข้อมูล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849624" y="4251960"/>
            <a:ext cx="100584" cy="0"/>
          </a:xfrm>
          <a:prstGeom prst="line">
            <a:avLst/>
          </a:prstGeom>
          <a:noFill/>
          <a:ln w="15875">
            <a:solidFill>
              <a:srgbClr val="6FD16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959352" y="4087368"/>
            <a:ext cx="7863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959352" y="408736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เพศ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54880" y="4251960"/>
            <a:ext cx="100584" cy="0"/>
          </a:xfrm>
          <a:prstGeom prst="line">
            <a:avLst/>
          </a:prstGeom>
          <a:noFill/>
          <a:ln w="15875">
            <a:solidFill>
              <a:srgbClr val="6FD16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864608" y="4087368"/>
            <a:ext cx="7863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64608" y="408736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เพศที่สนใจ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660136" y="4251960"/>
            <a:ext cx="100584" cy="0"/>
          </a:xfrm>
          <a:prstGeom prst="line">
            <a:avLst/>
          </a:prstGeom>
          <a:noFill/>
          <a:ln w="15875">
            <a:solidFill>
              <a:srgbClr val="6FD16F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769864" y="4087368"/>
            <a:ext cx="7863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769864" y="408736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อายุ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565392" y="4251960"/>
            <a:ext cx="100584" cy="0"/>
          </a:xfrm>
          <a:prstGeom prst="line">
            <a:avLst/>
          </a:prstGeom>
          <a:noFill/>
          <a:ln w="15875">
            <a:solidFill>
              <a:srgbClr val="6FD16F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675120" y="4087368"/>
            <a:ext cx="7863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75120" y="408736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คณะ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470648" y="4251960"/>
            <a:ext cx="100584" cy="0"/>
          </a:xfrm>
          <a:prstGeom prst="line">
            <a:avLst/>
          </a:prstGeom>
          <a:noFill/>
          <a:ln w="15875">
            <a:solidFill>
              <a:srgbClr val="6FD16F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580376" y="4087368"/>
            <a:ext cx="786384" cy="329184"/>
          </a:xfrm>
          <a:prstGeom prst="roundRect">
            <a:avLst>
              <a:gd name="adj" fmla="val 22222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580376" y="408736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พร้อมใช้งาน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01168"/>
            <a:ext cx="8412480" cy="4736592"/>
          </a:xfrm>
          <a:prstGeom prst="roundRect">
            <a:avLst>
              <a:gd name="adj" fmla="val 2896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9952" y="274320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9952" y="420624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 rot="16200000">
            <a:off x="8503920" y="3931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PAGE 03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4747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FLOW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8412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ข้อความจาก LINE ถูกแยกเจตนาแล้วเข้า 2 เส้นทาง ใช้คลังความรู้และกราฟชุดเดียวกัน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243584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2435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ฝั่งเอกสาร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572768"/>
            <a:ext cx="98755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F27B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9496" y="15727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 LINE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504188" y="1901952"/>
            <a:ext cx="114300" cy="0"/>
          </a:xfrm>
          <a:prstGeom prst="line">
            <a:avLst/>
          </a:prstGeom>
          <a:noFill/>
          <a:ln w="19050">
            <a:solidFill>
              <a:srgbClr val="F27BA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632204" y="1572768"/>
            <a:ext cx="98755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F27B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68780" y="15727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แยกเจตนา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SBERT·BM25·LLM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33472" y="1901952"/>
            <a:ext cx="114300" cy="0"/>
          </a:xfrm>
          <a:prstGeom prst="line">
            <a:avLst/>
          </a:prstGeom>
          <a:noFill/>
          <a:ln w="19050">
            <a:solidFill>
              <a:srgbClr val="F27BA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61488" y="1572768"/>
            <a:ext cx="98755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F27B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98064" y="15727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ขยาย / แปลง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62756" y="1901952"/>
            <a:ext cx="114300" cy="0"/>
          </a:xfrm>
          <a:prstGeom prst="line">
            <a:avLst/>
          </a:prstGeom>
          <a:noFill/>
          <a:ln w="19050">
            <a:solidFill>
              <a:srgbClr val="F27BA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90772" y="1572768"/>
            <a:ext cx="98755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F27B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27348" y="15727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Router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Dense·Graph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92040" y="1901952"/>
            <a:ext cx="114300" cy="0"/>
          </a:xfrm>
          <a:prstGeom prst="line">
            <a:avLst/>
          </a:prstGeom>
          <a:noFill/>
          <a:ln w="19050">
            <a:solidFill>
              <a:srgbClr val="F27BA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20056" y="1572768"/>
            <a:ext cx="98755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F27B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56632" y="15727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ด่าน Reranker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กรองความเกี่ยวข้อง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21324" y="1901952"/>
            <a:ext cx="114300" cy="0"/>
          </a:xfrm>
          <a:prstGeom prst="line">
            <a:avLst/>
          </a:prstGeom>
          <a:noFill/>
          <a:ln w="19050">
            <a:solidFill>
              <a:srgbClr val="F27BA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149340" y="1572768"/>
            <a:ext cx="98755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F27B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85916" y="15727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ตอบ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context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150608" y="1901952"/>
            <a:ext cx="114300" cy="0"/>
          </a:xfrm>
          <a:prstGeom prst="line">
            <a:avLst/>
          </a:prstGeom>
          <a:noFill/>
          <a:ln w="19050">
            <a:solidFill>
              <a:srgbClr val="F27BA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78624" y="1572768"/>
            <a:ext cx="987552" cy="658368"/>
          </a:xfrm>
          <a:prstGeom prst="roundRect">
            <a:avLst>
              <a:gd name="adj" fmla="val 13889"/>
            </a:avLst>
          </a:prstGeom>
          <a:solidFill>
            <a:srgbClr val="F27BA8"/>
          </a:solidFill>
          <a:ln w="15875">
            <a:solidFill>
              <a:srgbClr val="F27B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0" y="15727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ตรวจหลักฐาน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อ้างอิงแหล่ง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97480" y="2487168"/>
            <a:ext cx="448056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C9CFC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97480" y="24871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คลังความรู้ 1,035 chunk (ChromaDB)  ·  Knowledge Graph 1,441 nodes / 7,552 relations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072384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2920" y="30723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ฝั่งหาคู่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3401568"/>
            <a:ext cx="98755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6FD16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9496" y="34015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แชท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ลงทะเบียน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504188" y="3730752"/>
            <a:ext cx="114300" cy="0"/>
          </a:xfrm>
          <a:prstGeom prst="line">
            <a:avLst/>
          </a:prstGeom>
          <a:noFill/>
          <a:ln w="19050">
            <a:solidFill>
              <a:srgbClr val="6FD16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632204" y="3401568"/>
            <a:ext cx="98755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6FD16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668780" y="34015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สกัดโปรไฟล์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Local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633472" y="3730752"/>
            <a:ext cx="114300" cy="0"/>
          </a:xfrm>
          <a:prstGeom prst="line">
            <a:avLst/>
          </a:prstGeom>
          <a:noFill/>
          <a:ln w="19050">
            <a:solidFill>
              <a:srgbClr val="6FD16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761488" y="3401568"/>
            <a:ext cx="98755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6FD16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798064" y="34015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โปรไฟล์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สเปค·คณะ·ค่านิยม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762756" y="3730752"/>
            <a:ext cx="114300" cy="0"/>
          </a:xfrm>
          <a:prstGeom prst="line">
            <a:avLst/>
          </a:prstGeom>
          <a:noFill/>
          <a:ln w="19050">
            <a:solidFill>
              <a:srgbClr val="6FD16F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890772" y="3401568"/>
            <a:ext cx="98755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6FD16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927348" y="34015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Dense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คล้ายกันสองทาง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92040" y="3730752"/>
            <a:ext cx="114300" cy="0"/>
          </a:xfrm>
          <a:prstGeom prst="line">
            <a:avLst/>
          </a:prstGeom>
          <a:noFill/>
          <a:ln w="19050">
            <a:solidFill>
              <a:srgbClr val="6FD16F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020056" y="3401568"/>
            <a:ext cx="98755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6FD16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056632" y="34015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กฎเข้ากัน·red flag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021324" y="3730752"/>
            <a:ext cx="114300" cy="0"/>
          </a:xfrm>
          <a:prstGeom prst="line">
            <a:avLst/>
          </a:prstGeom>
          <a:noFill/>
          <a:ln w="19050">
            <a:solidFill>
              <a:srgbClr val="6FD16F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149340" y="3401568"/>
            <a:ext cx="98755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6FD16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185916" y="34015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Hybrid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รวมคะแนน + โบนัส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150608" y="3730752"/>
            <a:ext cx="114300" cy="0"/>
          </a:xfrm>
          <a:prstGeom prst="line">
            <a:avLst/>
          </a:prstGeom>
          <a:noFill/>
          <a:ln w="19050">
            <a:solidFill>
              <a:srgbClr val="6FD16F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278624" y="3401568"/>
            <a:ext cx="987552" cy="658368"/>
          </a:xfrm>
          <a:prstGeom prst="roundRect">
            <a:avLst>
              <a:gd name="adj" fmla="val 13889"/>
            </a:avLst>
          </a:prstGeom>
          <a:solidFill>
            <a:srgbClr val="6FD16F"/>
          </a:solidFill>
          <a:ln w="15875">
            <a:solidFill>
              <a:srgbClr val="6FD16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315200" y="34015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การ์ดแนะนำคู่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อธิบายเหตุผล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50292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ลบข้อมูลต้องกดยืนยัน · ข้อมูลอ่อนไหว (ศาสนา/อาหาร) ต้องยินยอมก่อน · API ล่มสลับเป็นโมเดล Local อัตโนมัติ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01168"/>
            <a:ext cx="8412480" cy="4736592"/>
          </a:xfrm>
          <a:prstGeom prst="roundRect">
            <a:avLst>
              <a:gd name="adj" fmla="val 2896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9952" y="274320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9952" y="420624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 rot="16200000">
            <a:off x="8503920" y="3931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PAGE 04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4747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&amp; CHUNKING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8412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37 แหล่งที่อ้างอิงได้ → ข้อความสะอาด → chunk พร้อม metadata สำหรับทั้ง Vector และ Graph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12984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ดึงข้อความ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PyMuPDF / VLM OCR (qwen2.5vl) สำหรับ PDF สแกน / หน้าเว็บ → PDF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384048" cy="384048"/>
          </a:xfrm>
          <a:prstGeom prst="ellipse">
            <a:avLst/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19019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ทำความสะอาด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2130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แก้ฟอนต์ไทยเก่า 20,165 จุด · ลบบรรทัดขยะ 4,018 บรรทัด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532888"/>
            <a:ext cx="384048" cy="384048"/>
          </a:xfrm>
          <a:prstGeom prst="ellipse">
            <a:avLst/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25054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แบ่ง section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2734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ตามบทของวิทยานิพนธ์ / ตามหน้า / รวม section ที่สั้นเกิน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136392"/>
            <a:ext cx="384048" cy="384048"/>
          </a:xfrm>
          <a:prstGeom prst="ellipse">
            <a:avLst/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31089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 chunk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300 คำ ซ้อนกัน 15% (นับคำด้วย PyThaiNLP) · ตัดซ้ำ 18 chunk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739896"/>
            <a:ext cx="384048" cy="384048"/>
          </a:xfrm>
          <a:prstGeom prst="ellipse">
            <a:avLst/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" y="37124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 metadata + concept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3941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หมวด · ที่มา · หน้า · concept ชุดเดียวกับโปรไฟล์ผู้ใช้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83480" y="1325880"/>
            <a:ext cx="164592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983480" y="15270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7B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37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2130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แหล่งเอกสาร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66560" y="1325880"/>
            <a:ext cx="164592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766560" y="15270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FD1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1,035</a:t>
            </a:r>
            <a:endParaRPr lang="en-US" sz="28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2130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chunk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83480" y="2807208"/>
            <a:ext cx="164592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4983480" y="300837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FD1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4.3%</a:t>
            </a:r>
            <a:endParaRPr lang="en-US" sz="2800" dirty="0"/>
          </a:p>
        </p:txBody>
      </p:sp>
      <p:sp>
        <p:nvSpPr>
          <p:cNvPr id="36" name="Text 34"/>
          <p:cNvSpPr txBox="1"/>
          <p:nvPr/>
        </p:nvSpPr>
        <p:spPr>
          <a:xfrm>
            <a:off x="5074920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CER OCR (จาก 8.0%)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66560" y="2807208"/>
            <a:ext cx="164592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6766560" y="300837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7B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81%</a:t>
            </a:r>
            <a:endParaRPr lang="en-US" sz="28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concept tag ถูกต้อง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01168"/>
            <a:ext cx="8412480" cy="4736592"/>
          </a:xfrm>
          <a:prstGeom prst="roundRect">
            <a:avLst>
              <a:gd name="adj" fmla="val 2896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9952" y="274320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9952" y="420624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 rot="16200000">
            <a:off x="8503920" y="3931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PAGE 05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4747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DENSE RAG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8412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bge-m3 เข้ารหัสข้อความเป็นเวกเตอร์ แล้วค้นด้วยความคล้ายเชิงความหมาย (cosine)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2788920" cy="2697480"/>
          </a:xfrm>
          <a:prstGeom prst="roundRect">
            <a:avLst>
              <a:gd name="adj" fmla="val 4746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04088" y="1472184"/>
            <a:ext cx="2386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ตอบคำถามเอกสาร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1856232"/>
            <a:ext cx="2386584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chunk → เวกเตอร์ bge-m3 → ChromaDB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ค้นทุกแบบคำถาม (คำพ้อง / แปลงคำถาม) แล้วรวมผล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จำกัด 3 chunk ต่อแหล่ง กันเอกสารใหญ่ยึดผลค้น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ส่งต่อด่าน Reranker ก่อนให้ LLM ตอบ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9000" y="1325880"/>
            <a:ext cx="2788920" cy="2697480"/>
          </a:xfrm>
          <a:prstGeom prst="roundRect">
            <a:avLst>
              <a:gd name="adj" fmla="val 4746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30168" y="1472184"/>
            <a:ext cx="2386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หาคู่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1856232"/>
            <a:ext cx="2386584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เข้ารหัส 'ตัวตน' และ 'สเปคที่อยากได้' ของทุกคน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 = ค่าเฉลี่ยฮาร์มอนิก 2 ทาง (A อยากได้ B และ B อยากได้ A)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หักคะแนนถ้าคล้ายคนที่เคยปัดทิ้ง (λ=0.15)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เป็นส่วนหนึ่งของคะแนน Hybrid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1325880"/>
            <a:ext cx="2103120" cy="26974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9CFCB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355080" y="24917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9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วางรูปที่นี่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206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Hit@5 (Dense อย่างเดียว) 0.735  ·  ค้น 375 ms/คำถาม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01168"/>
            <a:ext cx="8412480" cy="4736592"/>
          </a:xfrm>
          <a:prstGeom prst="roundRect">
            <a:avLst>
              <a:gd name="adj" fmla="val 2896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9952" y="274320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9952" y="420624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 rot="16200000">
            <a:off x="8503920" y="3931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PAGE 06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4747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RAG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8412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ความสัมพันธ์ระหว่างลักษณะ คน และความรู้ — ตอบสิ่งที่ Dense หาจากความคล้ายอย่างเดียวไม่ได้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310896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C9CFCB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0292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9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วางรูปกราฟจาก Neo4j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94760" y="1325880"/>
            <a:ext cx="4663440" cy="1463040"/>
          </a:xfrm>
          <a:prstGeom prst="roundRect">
            <a:avLst>
              <a:gd name="adj" fmla="val 8750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995928" y="1472184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ตอบคำถามเอกสาร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995928" y="1856232"/>
            <a:ext cx="42611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chunk ─ABOUT→ concept (ลักษณะ / red flag / รูปแบบความผูกพัน)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กฎความเข้ากัน เช่น anxious กับ avoidant 'มักมีปัญหากัน' ใช้ตอบได้ตรง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Router เลือกเส้นทาง graph เมื่อคำถามพูดถึงลักษณะนิสัยหรือ red flag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94760" y="2926080"/>
            <a:ext cx="4663440" cy="1508760"/>
          </a:xfrm>
          <a:prstGeom prst="roundRect">
            <a:avLst>
              <a:gd name="adj" fmla="val 8485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995928" y="3072384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หาคู่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95928" y="3456432"/>
            <a:ext cx="4261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 ─HAS_TRAIT / LIKES→ concept ─COMPATIBLE / CONFLICTS→ concept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red flag ที่ถูกรายงาน + ประวัติปัด / เลิกคุย ใช้กรองคู่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บอท query Neo4j (Cypher) ทุกคำขอ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4526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Matching P@5: Graph 0.261 vs Dense 0.113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01168"/>
            <a:ext cx="8412480" cy="4736592"/>
          </a:xfrm>
          <a:prstGeom prst="roundRect">
            <a:avLst>
              <a:gd name="adj" fmla="val 2896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9952" y="274320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9952" y="420624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 rot="16200000">
            <a:off x="8503920" y="3931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PAGE 07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4747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ถามบอต: ADVICE PIPELINE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8412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ทุกคำตอบต้องมาจากคลังความรู้ — ถ้าเอกสารไม่ได้ตอบตรงคำถาม บอทตอบว่าไม่มีข้อมูล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" y="1307592"/>
            <a:ext cx="310896" cy="310896"/>
          </a:xfrm>
          <a:prstGeom prst="ellipse">
            <a:avLst/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" y="1307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2801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แยกเจตนา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12801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SBERT + BM25 · ก้ำกึ่งให้ LLM Local เลือก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0352" y="1755648"/>
            <a:ext cx="310896" cy="310896"/>
          </a:xfrm>
          <a:prstGeom prst="ellipse">
            <a:avLst/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17282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คำถามต่อเนื่อง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172821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"ยกตัวอย่าง" / "ข้อสอง" → แปลงเป็นคำถามเต็มจากประวัติ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0352" y="2203704"/>
            <a:ext cx="310896" cy="310896"/>
          </a:xfrm>
          <a:prstGeom prst="ellipse">
            <a:avLst/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2203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21762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ขยายคำ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217627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คำพ้อง: คนคุย → แฟน · ทัก → เริ่มต้นความสัมพันธ์ · ขอยืมเงิน → หลอกให้โอน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30352" y="2651760"/>
            <a:ext cx="310896" cy="310896"/>
          </a:xfrm>
          <a:prstGeom prst="ellipse">
            <a:avLst/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26243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26243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Router → Dense / Graph · คะแนนต่ำ → แปลงคำถาม 3 แบบ + chunk ข้างเคียง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0352" y="3099816"/>
            <a:ext cx="310896" cy="310896"/>
          </a:xfrm>
          <a:prstGeom prst="ellipse">
            <a:avLst/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0352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30723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ด่านความเกี่ยวข้อง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30723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Reranker ต้องได้ ≥ 0.1 และ ≥ 30% ของอันดับ 1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0352" y="3547872"/>
            <a:ext cx="310896" cy="310896"/>
          </a:xfrm>
          <a:prstGeom prst="ellipse">
            <a:avLst/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0352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3520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ตอบ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2377440" y="3520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ใช้เฉพาะ CONTEXT · อ้างอิง [n] ทุกประโยค · ห้ามแต่งเพิ่ม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0352" y="3995928"/>
            <a:ext cx="310896" cy="310896"/>
          </a:xfrm>
          <a:prstGeom prst="ellipse">
            <a:avLst/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0352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60120" y="39684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ตรวจหลักฐาน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2377440" y="396849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เทียบทีละวลีกับเอกสาร → ตัดประโยคที่ไม่มีหลักฐาน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852160" y="1280160"/>
            <a:ext cx="2606040" cy="1572768"/>
          </a:xfrm>
          <a:prstGeom prst="roundRect">
            <a:avLst>
              <a:gd name="adj" fmla="val 8140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053328" y="1426464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บล็อกข้อมูลนอก RAG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053328" y="1810512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ด่านก่อน: กรองเอกสารไม่เกี่ยว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Prompt: ห้ามใช้ความรู้ของตัวเอง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ด่านหลัง: ตัดประโยคไม่มีหลักฐาน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852160" y="2971800"/>
            <a:ext cx="2606040" cy="1481328"/>
          </a:xfrm>
          <a:prstGeom prst="roundRect">
            <a:avLst>
              <a:gd name="adj" fmla="val 8642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053328" y="3118104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ความจำ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053328" y="3502152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หัวข้อเดิม: ถามต่อได้ (≤ 800 token)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ระยะยาว: สรุปด้วย LLM Local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ไม่เก็บ LINE ID / เบอร์ / ศาสนา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01168"/>
            <a:ext cx="8412480" cy="4736592"/>
          </a:xfrm>
          <a:prstGeom prst="roundRect">
            <a:avLst>
              <a:gd name="adj" fmla="val 2896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9952" y="274320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9952" y="420624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 rot="16200000">
            <a:off x="8503920" y="3931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PAGE 08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4747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หาคู่: MATCHING PIPELINE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8412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จากแชทเป็นโปรไฟล์ แล้วจัดอันดับคนที่เข้ากัน — แลกช่องทางติดต่อเมื่อยินยอมทั้งสองฝ่ายเท่านั้น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417320" cy="438912"/>
          </a:xfrm>
          <a:prstGeom prst="roundRect">
            <a:avLst>
              <a:gd name="adj" fmla="val 20833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29844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เรียนรู้โปรไฟล์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29384" y="1517904"/>
            <a:ext cx="173736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12264" y="1298448"/>
            <a:ext cx="1417320" cy="438912"/>
          </a:xfrm>
          <a:prstGeom prst="roundRect">
            <a:avLst>
              <a:gd name="adj" fmla="val 20833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12264" y="129844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คัดผู้สมัคร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38728" y="1517904"/>
            <a:ext cx="173736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21608" y="1298448"/>
            <a:ext cx="1417320" cy="438912"/>
          </a:xfrm>
          <a:prstGeom prst="roundRect">
            <a:avLst>
              <a:gd name="adj" fmla="val 20833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21608" y="129844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 Hybrid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48072" y="1517904"/>
            <a:ext cx="173736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30952" y="1298448"/>
            <a:ext cx="1417320" cy="438912"/>
          </a:xfrm>
          <a:prstGeom prst="roundRect">
            <a:avLst>
              <a:gd name="adj" fmla="val 20833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30952" y="129844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การ์ด + เหตุผล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57416" y="1517904"/>
            <a:ext cx="173736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40296" y="1298448"/>
            <a:ext cx="1417320" cy="438912"/>
          </a:xfrm>
          <a:prstGeom prst="roundRect">
            <a:avLst>
              <a:gd name="adj" fmla="val 20833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0296" y="129844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ทำความรู้จัก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1920240"/>
            <a:ext cx="256032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2084832"/>
            <a:ext cx="237744" cy="237744"/>
          </a:xfrm>
          <a:prstGeom prst="roundRect">
            <a:avLst>
              <a:gd name="adj" fmla="val 30769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4984" y="20482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โปรไฟล์จากแชท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2487168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Local สกัดงานอดิเรก นิสัย สเปค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"เปลี่ยนใจ" = แทนค่าเดิม ไม่ใช่เพิ่ม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คณะ + ค่านิยม 7 มิติ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ศาสนา / อาหาร ต้องยินยอมก่อน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1920240"/>
            <a:ext cx="256032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83280" y="2084832"/>
            <a:ext cx="237744" cy="237744"/>
          </a:xfrm>
          <a:prstGeom prst="roundRect">
            <a:avLst>
              <a:gd name="adj" fmla="val 30769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12464" y="20482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คัดกรอง + จัดอันดับ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383280" y="2487168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ต้องยินยอมทั้งคู่ + เพศที่สนใจตรงกัน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ไม่แนะนำคนที่เคยปัด / เลิกคุย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Graph: กฎเข้ากัน + red flag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Dense: ความคล้ายสองทาง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โบนัสคณะ + ค่านิยม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97880" y="1920240"/>
            <a:ext cx="256032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2084832"/>
            <a:ext cx="237744" cy="237744"/>
          </a:xfrm>
          <a:prstGeom prst="roundRect">
            <a:avLst>
              <a:gd name="adj" fmla="val 30769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9944" y="20482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หลังแนะนำ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080760" y="2487168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ทำความรู้จัก: อีกฝ่ายต้องยินยอม จึงแลก LINE ID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ขอผ่าน: ไม่แนะนำคนนี้อีก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เลิกคุย: ถามเหตุผล → บันทึกพฤติกรรม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ครั้งต่อไปลดน้ำหนักคนแบบนั้น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42062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ผู้ใช้จำลอง 300 คน ใช้ทดสอบการจัดอันดับ · อีกฝ่ายไม่เห็นสิ่งที่ผู้ใช้คุยกับบอท · LINE ID ถูกเก็บแยกและส่งต่อเฉพาะเมื่อยินยอมทั้งคู่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01168"/>
            <a:ext cx="8412480" cy="4736592"/>
          </a:xfrm>
          <a:prstGeom prst="roundRect">
            <a:avLst>
              <a:gd name="adj" fmla="val 2896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9952" y="274320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9952" y="420624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 rot="16200000">
            <a:off x="8503920" y="3931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PAGE 09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4747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MODELS: BERT &amp; LLM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8412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BERT ทำงานค้น / กรอง / แยกเจตนา · LLM ทำงานเขียน — เลือก API หรือ Local ตามผลวัดและความเป็นส่วนตัว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ตระกูล BERT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35661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1737360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" y="1636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bge-m3 (SBERT)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18928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เวกเตอร์ของ chunk / โปรไฟล์ / ข้อความ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286000"/>
            <a:ext cx="35661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245059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" y="2350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bge-reranker-v2-m3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606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ด่านความเกี่ยวข้อง + ตรวจหลักฐาน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999232"/>
            <a:ext cx="35661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" y="3163824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24128" y="3063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WangchanBERTa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33192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เลือกคำจาก OCR 2 รอบ (ภาษาไทย)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712464"/>
            <a:ext cx="35661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" y="3877056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4128" y="3776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SBERT + BM25 + LLM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40325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แยกเจตนา 50% → 100%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29768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API vs Local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572768"/>
          <a:ext cx="41605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234440"/>
                <a:gridCol w="1600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งาน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โมเดล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เหตุผล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ตอบคำปรึกษา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API psu-gemma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Typhoon แต่งอ้างอิงเกิน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อธิบายคู่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API psu-gemma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2.2 s vs 12.5 s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แปลงคำถาม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API psu-gemma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 เครดิต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สกัดโปรไฟล์ / ความจำ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Local qwen2.5 7B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ข้อมูลไม่ออกนอกเครื่อง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แยกเจตนา (ก้ำกึ่ง)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Local qwen2.5 7B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F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ชุดสดถูก 100%</a:t>
                      </a:r>
                      <a:endParaRPr lang="en-US" sz="8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4297680" y="39776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API ล่ม → สลับ Local อัตโนมัติ · หมุนเวียน API key 3 ตัว · Luna ใช้เครดิต ×2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01168"/>
            <a:ext cx="8412480" cy="4736592"/>
          </a:xfrm>
          <a:prstGeom prst="roundRect">
            <a:avLst>
              <a:gd name="adj" fmla="val 2896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9952" y="274320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F27BA8"/>
          </a:solidFill>
          <a:ln w="12700">
            <a:solidFill>
              <a:srgbClr val="F27B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9952" y="420624"/>
            <a:ext cx="182880" cy="109728"/>
          </a:xfrm>
          <a:prstGeom prst="roundRect">
            <a:avLst>
              <a:gd name="adj" fmla="val 33333"/>
            </a:avLst>
          </a:prstGeom>
          <a:solidFill>
            <a:srgbClr val="6FD16F"/>
          </a:solidFill>
          <a:ln w="12700">
            <a:solidFill>
              <a:srgbClr val="6FD1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 rot="16200000">
            <a:off x="8503920" y="3931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PAGE 10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4747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EVALUATION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8412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วัดแยกทุกชั้น: การค้น · การตอบ · การจับคู่ · การแยกเจตนา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420624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9" name="Chart 0" descr=""/>
          <p:cNvGraphicFramePr/>
          <p:nvPr/>
        </p:nvGraphicFramePr>
        <p:xfrm>
          <a:off x="640080" y="1371600"/>
          <a:ext cx="39319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4892040" y="1280160"/>
            <a:ext cx="1709928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892040" y="150876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7B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2121408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ข้อความที่แต่งเกินเอกสาร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(rag_judge 52 ข้อ)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693408" y="1280160"/>
            <a:ext cx="1709928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693408" y="150876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FD1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11/11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6784848" y="2121408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คำถามนอกคลัง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ปฏิเสธถูก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892040" y="2926080"/>
            <a:ext cx="1709928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892040" y="315468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FD1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0.27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4983480" y="3767328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Matching P@5 Hybrid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(Dense 0.11 · Graph 0.26)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93408" y="2926080"/>
            <a:ext cx="1709928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693408" y="315468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7B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100%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6784848" y="3767328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แยกเจตนา SBERT+BM25+LLM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(กฎคำตายตัว 50%)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PSU Dealing — Hybrid RAG</dc:title>
  <dc:subject>PptxGenJS Presentation</dc:subject>
  <dc:creator>PptxGenJS</dc:creator>
  <cp:lastModifiedBy>PptxGenJS</cp:lastModifiedBy>
  <cp:revision>1</cp:revision>
  <dcterms:created xsi:type="dcterms:W3CDTF">2026-09-29T18:02:03Z</dcterms:created>
  <dcterms:modified xsi:type="dcterms:W3CDTF">2026-09-29T18:02:03Z</dcterms:modified>
</cp:coreProperties>
</file>